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8" r:id="rId3"/>
    <p:sldId id="289" r:id="rId4"/>
    <p:sldId id="287" r:id="rId5"/>
    <p:sldId id="290" r:id="rId6"/>
    <p:sldId id="292" r:id="rId7"/>
    <p:sldId id="293" r:id="rId8"/>
    <p:sldId id="294" r:id="rId9"/>
    <p:sldId id="29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0" userDrawn="1">
          <p15:clr>
            <a:srgbClr val="A4A3A4"/>
          </p15:clr>
        </p15:guide>
        <p15:guide id="2" pos="39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jun Guo" initials="XG" lastIdx="0" clrIdx="0"/>
  <p:cmAuthor id="2" name="仲从庆" initials="" lastIdx="0" clrIdx="1"/>
  <p:cmAuthor id="3" name="Shendm" initials="S" lastIdx="0" clrIdx="2"/>
  <p:cmAuthor id="4" name="蔡 中华" initials="蔡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8441"/>
    <a:srgbClr val="B14501"/>
    <a:srgbClr val="4874CB"/>
    <a:srgbClr val="4874BF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30"/>
        <p:guide pos="39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封面（无副标题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资源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4364" y="540000"/>
            <a:ext cx="1669363" cy="540000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4608000" y="5816889"/>
            <a:ext cx="29760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600" b="0" i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www.sciyon.com</a:t>
            </a:r>
            <a:endParaRPr lang="zh-CN" altLang="en-US" sz="1400" b="0" i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7624445" y="1837055"/>
            <a:ext cx="2576195" cy="4248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问题重写模块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609840" y="2989580"/>
            <a:ext cx="2630805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细节知识检索模块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609205" y="3593465"/>
            <a:ext cx="2631440" cy="4044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父子检索模块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936105" y="1628775"/>
            <a:ext cx="3575050" cy="305816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7625080" y="4200525"/>
            <a:ext cx="2611755" cy="381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提示词构建模块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04760" y="2413000"/>
            <a:ext cx="2631440" cy="4273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语义摘要检索模块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896600" y="1932940"/>
            <a:ext cx="421005" cy="24631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答案获取可视化模块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041515" y="4781550"/>
            <a:ext cx="394970" cy="14630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大模型</a:t>
            </a:r>
            <a:r>
              <a:rPr lang="zh-CN" altLang="en-US" sz="1600">
                <a:solidFill>
                  <a:schemeClr val="tx1"/>
                </a:solidFill>
              </a:rPr>
              <a:t>回复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73140" y="4782185"/>
            <a:ext cx="401320" cy="14624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答案及其来源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071110" y="4782820"/>
            <a:ext cx="385445" cy="14624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用户反馈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61075" y="1843405"/>
            <a:ext cx="403225" cy="2619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啊</a:t>
            </a:r>
            <a:r>
              <a:rPr lang="zh-CN" altLang="en-US" sz="1600">
                <a:solidFill>
                  <a:schemeClr val="tx1"/>
                </a:solidFill>
              </a:rPr>
              <a:t>业务问答知识库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35" idx="3"/>
            <a:endCxn id="33" idx="1"/>
          </p:cNvCxnSpPr>
          <p:nvPr/>
        </p:nvCxnSpPr>
        <p:spPr>
          <a:xfrm>
            <a:off x="6464300" y="3153410"/>
            <a:ext cx="471805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33" idx="3"/>
            <a:endCxn id="20" idx="1"/>
          </p:cNvCxnSpPr>
          <p:nvPr/>
        </p:nvCxnSpPr>
        <p:spPr>
          <a:xfrm>
            <a:off x="10511155" y="3157855"/>
            <a:ext cx="385445" cy="69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34" idx="1"/>
            <a:endCxn id="14" idx="2"/>
          </p:cNvCxnSpPr>
          <p:nvPr/>
        </p:nvCxnSpPr>
        <p:spPr>
          <a:xfrm rot="10800000">
            <a:off x="3726815" y="4686935"/>
            <a:ext cx="1344295" cy="827405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513965" y="1776730"/>
            <a:ext cx="2576195" cy="4775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知识库配置模块</a:t>
            </a:r>
            <a:endParaRPr 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97710" y="1613535"/>
            <a:ext cx="3458210" cy="307340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045335" y="1800225"/>
            <a:ext cx="407670" cy="274828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树结构摘要生成子系统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>
            <a:stCxn id="14" idx="3"/>
            <a:endCxn id="35" idx="1"/>
          </p:cNvCxnSpPr>
          <p:nvPr/>
        </p:nvCxnSpPr>
        <p:spPr>
          <a:xfrm>
            <a:off x="5455920" y="3150235"/>
            <a:ext cx="605155" cy="31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513965" y="2480310"/>
            <a:ext cx="2576195" cy="4775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文件管理模块</a:t>
            </a:r>
            <a:endParaRPr 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513965" y="3223260"/>
            <a:ext cx="2576195" cy="4775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文档解析模块</a:t>
            </a:r>
            <a:endParaRPr 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13965" y="3918585"/>
            <a:ext cx="2576195" cy="4775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知识块管理模块</a:t>
            </a:r>
            <a:endParaRPr 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70090" y="1755775"/>
            <a:ext cx="407670" cy="244475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双通道检索引擎子系统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00315" y="1098550"/>
            <a:ext cx="2576195" cy="3422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用户问题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6" name="直接箭头连接符 35"/>
          <p:cNvCxnSpPr>
            <a:stCxn id="23" idx="2"/>
          </p:cNvCxnSpPr>
          <p:nvPr/>
        </p:nvCxnSpPr>
        <p:spPr>
          <a:xfrm>
            <a:off x="8888730" y="1440815"/>
            <a:ext cx="3810" cy="191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肘形连接符 39"/>
          <p:cNvCxnSpPr>
            <a:stCxn id="33" idx="2"/>
            <a:endCxn id="27" idx="3"/>
          </p:cNvCxnSpPr>
          <p:nvPr/>
        </p:nvCxnSpPr>
        <p:spPr>
          <a:xfrm rot="5400000">
            <a:off x="7666990" y="4456430"/>
            <a:ext cx="826135" cy="128714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7" idx="1"/>
            <a:endCxn id="29" idx="3"/>
          </p:cNvCxnSpPr>
          <p:nvPr/>
        </p:nvCxnSpPr>
        <p:spPr>
          <a:xfrm flipH="1">
            <a:off x="6474460" y="5513070"/>
            <a:ext cx="56705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29" idx="1"/>
            <a:endCxn id="34" idx="3"/>
          </p:cNvCxnSpPr>
          <p:nvPr/>
        </p:nvCxnSpPr>
        <p:spPr>
          <a:xfrm flipH="1">
            <a:off x="5456555" y="5513705"/>
            <a:ext cx="61658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圆角矩形 28"/>
          <p:cNvSpPr/>
          <p:nvPr/>
        </p:nvSpPr>
        <p:spPr>
          <a:xfrm>
            <a:off x="4998720" y="318770"/>
            <a:ext cx="1547495" cy="4019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启动文档解析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724400" y="888365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加入消息队列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706620" y="2526665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Redis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分布式锁</a:t>
            </a:r>
            <a:endParaRPr lang="zh-CN" sz="16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123565" y="3306445"/>
            <a:ext cx="1518920" cy="245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标志解析成功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131050" y="3671570"/>
            <a:ext cx="2096135" cy="375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自动重试</a:t>
            </a:r>
            <a:r>
              <a:rPr lang="en-US" altLang="zh-CN" sz="1600">
                <a:solidFill>
                  <a:schemeClr val="tx1"/>
                </a:solidFill>
              </a:rPr>
              <a:t>3</a:t>
            </a:r>
            <a:r>
              <a:rPr lang="zh-CN" altLang="en-US" sz="1600">
                <a:solidFill>
                  <a:schemeClr val="tx1"/>
                </a:solidFill>
              </a:rPr>
              <a:t>次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67" name="直接箭头连接符 66"/>
          <p:cNvCxnSpPr>
            <a:stCxn id="29" idx="2"/>
            <a:endCxn id="38" idx="0"/>
          </p:cNvCxnSpPr>
          <p:nvPr/>
        </p:nvCxnSpPr>
        <p:spPr>
          <a:xfrm>
            <a:off x="5772785" y="720725"/>
            <a:ext cx="0" cy="167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38" idx="2"/>
            <a:endCxn id="39" idx="0"/>
          </p:cNvCxnSpPr>
          <p:nvPr/>
        </p:nvCxnSpPr>
        <p:spPr>
          <a:xfrm>
            <a:off x="5772785" y="1263650"/>
            <a:ext cx="8890" cy="196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" idx="2"/>
            <a:endCxn id="43" idx="0"/>
          </p:cNvCxnSpPr>
          <p:nvPr/>
        </p:nvCxnSpPr>
        <p:spPr>
          <a:xfrm>
            <a:off x="5755005" y="2284095"/>
            <a:ext cx="0" cy="2425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流程图: 决策 1"/>
          <p:cNvSpPr/>
          <p:nvPr/>
        </p:nvSpPr>
        <p:spPr>
          <a:xfrm>
            <a:off x="4779010" y="1460500"/>
            <a:ext cx="1951355" cy="82359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文件是否解析？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3" name="肘形连接符 2"/>
          <p:cNvCxnSpPr>
            <a:stCxn id="2" idx="1"/>
            <a:endCxn id="44" idx="0"/>
          </p:cNvCxnSpPr>
          <p:nvPr/>
        </p:nvCxnSpPr>
        <p:spPr>
          <a:xfrm rot="10800000" flipV="1">
            <a:off x="3883025" y="1872615"/>
            <a:ext cx="895985" cy="143383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7382510" y="5060315"/>
            <a:ext cx="1592580" cy="366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记录失败状态</a:t>
            </a:r>
            <a:endParaRPr lang="zh-CN" sz="1600">
              <a:solidFill>
                <a:schemeClr val="tx1"/>
              </a:solidFill>
            </a:endParaRPr>
          </a:p>
        </p:txBody>
      </p:sp>
      <p:sp>
        <p:nvSpPr>
          <p:cNvPr id="5" name="流程图: 决策 4"/>
          <p:cNvSpPr/>
          <p:nvPr/>
        </p:nvSpPr>
        <p:spPr>
          <a:xfrm>
            <a:off x="7142480" y="4299585"/>
            <a:ext cx="2078990" cy="59626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解析成功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stCxn id="66" idx="2"/>
            <a:endCxn id="5" idx="0"/>
          </p:cNvCxnSpPr>
          <p:nvPr/>
        </p:nvCxnSpPr>
        <p:spPr>
          <a:xfrm>
            <a:off x="8179435" y="4046855"/>
            <a:ext cx="2540" cy="2527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94630" y="2199640"/>
            <a:ext cx="365125" cy="27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4328795" y="1531620"/>
            <a:ext cx="394970" cy="340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239385" y="3729990"/>
            <a:ext cx="420370" cy="30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6866255" y="3110865"/>
            <a:ext cx="482600" cy="277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14" name="圆角矩形 13"/>
          <p:cNvSpPr/>
          <p:nvPr/>
        </p:nvSpPr>
        <p:spPr>
          <a:xfrm>
            <a:off x="4980940" y="5975350"/>
            <a:ext cx="1537970" cy="40703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前端返回状态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6" name="流程图: 决策 15"/>
          <p:cNvSpPr/>
          <p:nvPr/>
        </p:nvSpPr>
        <p:spPr>
          <a:xfrm>
            <a:off x="4714875" y="3133725"/>
            <a:ext cx="2078990" cy="59626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解析成功？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>
            <a:stCxn id="43" idx="2"/>
            <a:endCxn id="16" idx="0"/>
          </p:cNvCxnSpPr>
          <p:nvPr/>
        </p:nvCxnSpPr>
        <p:spPr>
          <a:xfrm flipH="1">
            <a:off x="5754370" y="2901950"/>
            <a:ext cx="635" cy="231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44" idx="2"/>
          </p:cNvCxnSpPr>
          <p:nvPr/>
        </p:nvCxnSpPr>
        <p:spPr>
          <a:xfrm rot="5400000" flipV="1">
            <a:off x="3872230" y="3561715"/>
            <a:ext cx="1906270" cy="1885315"/>
          </a:xfrm>
          <a:prstGeom prst="bentConnector3">
            <a:avLst>
              <a:gd name="adj1" fmla="val 5481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763260" y="3729990"/>
            <a:ext cx="5080" cy="87503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6" idx="3"/>
            <a:endCxn id="66" idx="0"/>
          </p:cNvCxnSpPr>
          <p:nvPr/>
        </p:nvCxnSpPr>
        <p:spPr>
          <a:xfrm>
            <a:off x="6793865" y="3432175"/>
            <a:ext cx="1385570" cy="23939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477760" y="4757420"/>
            <a:ext cx="427990" cy="25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cxnSp>
        <p:nvCxnSpPr>
          <p:cNvPr id="24" name="直接连接符 23"/>
          <p:cNvCxnSpPr>
            <a:stCxn id="5" idx="1"/>
          </p:cNvCxnSpPr>
          <p:nvPr/>
        </p:nvCxnSpPr>
        <p:spPr>
          <a:xfrm flipH="1">
            <a:off x="5732145" y="4598035"/>
            <a:ext cx="1410335" cy="571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920230" y="4258945"/>
            <a:ext cx="42862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cxnSp>
        <p:nvCxnSpPr>
          <p:cNvPr id="26" name="直接箭头连接符 25"/>
          <p:cNvCxnSpPr>
            <a:stCxn id="5" idx="2"/>
            <a:endCxn id="4" idx="0"/>
          </p:cNvCxnSpPr>
          <p:nvPr/>
        </p:nvCxnSpPr>
        <p:spPr>
          <a:xfrm flipH="1">
            <a:off x="8178800" y="4895850"/>
            <a:ext cx="3175" cy="164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4" idx="2"/>
            <a:endCxn id="28" idx="3"/>
          </p:cNvCxnSpPr>
          <p:nvPr/>
        </p:nvCxnSpPr>
        <p:spPr>
          <a:xfrm rot="5400000">
            <a:off x="7256145" y="4707890"/>
            <a:ext cx="203835" cy="164147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944745" y="5447030"/>
            <a:ext cx="1592580" cy="3663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</a:rPr>
              <a:t>释放分布式锁</a:t>
            </a:r>
            <a:endParaRPr lang="zh-CN" sz="1600">
              <a:solidFill>
                <a:schemeClr val="tx1"/>
              </a:solidFill>
            </a:endParaRPr>
          </a:p>
        </p:txBody>
      </p:sp>
      <p:cxnSp>
        <p:nvCxnSpPr>
          <p:cNvPr id="30" name="直接箭头连接符 29"/>
          <p:cNvCxnSpPr>
            <a:stCxn id="28" idx="2"/>
            <a:endCxn id="14" idx="0"/>
          </p:cNvCxnSpPr>
          <p:nvPr/>
        </p:nvCxnSpPr>
        <p:spPr>
          <a:xfrm>
            <a:off x="5741035" y="5813425"/>
            <a:ext cx="8890" cy="1619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994275" y="306070"/>
            <a:ext cx="1654810" cy="401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-79375" y="1397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文档解析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5313680" y="368935"/>
            <a:ext cx="110680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文档解析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4342765" y="898525"/>
            <a:ext cx="2972435" cy="6521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448810" y="949960"/>
            <a:ext cx="2745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根据源文件的章节</a:t>
            </a:r>
            <a:r>
              <a:rPr lang="en-US" altLang="zh-CN" sz="1600"/>
              <a:t>Head</a:t>
            </a:r>
            <a:r>
              <a:rPr lang="zh-CN" altLang="en-US" sz="1600"/>
              <a:t>标志得到最小层级节点文本信息</a:t>
            </a:r>
            <a:endParaRPr lang="zh-CN" altLang="en-US" sz="16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>
            <a:off x="5821680" y="707390"/>
            <a:ext cx="7620" cy="191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决策 13"/>
          <p:cNvSpPr/>
          <p:nvPr/>
        </p:nvSpPr>
        <p:spPr>
          <a:xfrm>
            <a:off x="4251325" y="1833880"/>
            <a:ext cx="3150235" cy="78168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最小层级节点？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15890" y="2515870"/>
            <a:ext cx="441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18" name="矩形 17"/>
          <p:cNvSpPr/>
          <p:nvPr/>
        </p:nvSpPr>
        <p:spPr>
          <a:xfrm>
            <a:off x="2764155" y="2829560"/>
            <a:ext cx="1923415" cy="3314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最小层级生成摘要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748530" y="2797175"/>
            <a:ext cx="2160905" cy="4641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补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获取当前节点的子节点和父节点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7" name="直接箭头连接符 26"/>
          <p:cNvCxnSpPr>
            <a:stCxn id="10" idx="2"/>
            <a:endCxn id="14" idx="0"/>
          </p:cNvCxnSpPr>
          <p:nvPr/>
        </p:nvCxnSpPr>
        <p:spPr>
          <a:xfrm>
            <a:off x="5821680" y="1533525"/>
            <a:ext cx="5080" cy="3003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493260" y="3698875"/>
            <a:ext cx="2670810" cy="368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递归生成各节点文本摘要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1" name="直接箭头连接符 30"/>
          <p:cNvCxnSpPr>
            <a:stCxn id="26" idx="2"/>
            <a:endCxn id="2" idx="0"/>
          </p:cNvCxnSpPr>
          <p:nvPr/>
        </p:nvCxnSpPr>
        <p:spPr>
          <a:xfrm flipH="1">
            <a:off x="5823585" y="3261360"/>
            <a:ext cx="5715" cy="191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3747770" y="1894205"/>
            <a:ext cx="33528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cxnSp>
        <p:nvCxnSpPr>
          <p:cNvPr id="42" name="肘形连接符 41"/>
          <p:cNvCxnSpPr>
            <a:stCxn id="14" idx="1"/>
            <a:endCxn id="18" idx="0"/>
          </p:cNvCxnSpPr>
          <p:nvPr/>
        </p:nvCxnSpPr>
        <p:spPr>
          <a:xfrm rot="10800000" flipV="1">
            <a:off x="3726180" y="2225040"/>
            <a:ext cx="525145" cy="60452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流程图: 决策 51"/>
          <p:cNvSpPr/>
          <p:nvPr/>
        </p:nvSpPr>
        <p:spPr>
          <a:xfrm>
            <a:off x="4493260" y="4962525"/>
            <a:ext cx="2670810" cy="609600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文本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tokens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数量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&gt;512?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116830" y="5448300"/>
            <a:ext cx="49022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61" name="矩形 60"/>
          <p:cNvSpPr/>
          <p:nvPr/>
        </p:nvSpPr>
        <p:spPr>
          <a:xfrm>
            <a:off x="2421890" y="1636395"/>
            <a:ext cx="5715635" cy="256476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569835" y="2051050"/>
            <a:ext cx="389890" cy="174752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构建文档树结构摘要</a:t>
            </a:r>
            <a:endParaRPr lang="zh-CN" altLang="en-US" sz="1400"/>
          </a:p>
        </p:txBody>
      </p:sp>
      <p:sp>
        <p:nvSpPr>
          <p:cNvPr id="63" name="矩形 62"/>
          <p:cNvSpPr/>
          <p:nvPr/>
        </p:nvSpPr>
        <p:spPr>
          <a:xfrm>
            <a:off x="2421890" y="4309110"/>
            <a:ext cx="5715000" cy="187896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7543800" y="4599305"/>
            <a:ext cx="394335" cy="13436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划分细节知识块</a:t>
            </a:r>
            <a:endParaRPr lang="zh-CN" altLang="en-US" sz="1400"/>
          </a:p>
        </p:txBody>
      </p:sp>
      <p:cxnSp>
        <p:nvCxnSpPr>
          <p:cNvPr id="65" name="直接箭头连接符 64"/>
          <p:cNvCxnSpPr>
            <a:stCxn id="52" idx="2"/>
            <a:endCxn id="34" idx="0"/>
          </p:cNvCxnSpPr>
          <p:nvPr/>
        </p:nvCxnSpPr>
        <p:spPr>
          <a:xfrm>
            <a:off x="5828665" y="5572125"/>
            <a:ext cx="635" cy="1720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4" idx="2"/>
            <a:endCxn id="26" idx="0"/>
          </p:cNvCxnSpPr>
          <p:nvPr/>
        </p:nvCxnSpPr>
        <p:spPr>
          <a:xfrm>
            <a:off x="5826760" y="2615565"/>
            <a:ext cx="2540" cy="1816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683760" y="4437380"/>
            <a:ext cx="2299335" cy="3771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文本细粒度划分规则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5" name="肘形连接符 14"/>
          <p:cNvCxnSpPr>
            <a:stCxn id="18" idx="2"/>
            <a:endCxn id="2" idx="2"/>
          </p:cNvCxnSpPr>
          <p:nvPr/>
        </p:nvCxnSpPr>
        <p:spPr>
          <a:xfrm rot="5400000" flipV="1">
            <a:off x="4565333" y="2321878"/>
            <a:ext cx="346710" cy="20250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2" idx="2"/>
            <a:endCxn id="52" idx="0"/>
          </p:cNvCxnSpPr>
          <p:nvPr/>
        </p:nvCxnSpPr>
        <p:spPr>
          <a:xfrm flipH="1">
            <a:off x="5828665" y="4814570"/>
            <a:ext cx="5080" cy="1479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748530" y="5744210"/>
            <a:ext cx="2160905" cy="3460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存储到</a:t>
            </a:r>
            <a:r>
              <a:rPr lang="en-US" altLang="zh-CN" sz="1400">
                <a:solidFill>
                  <a:schemeClr val="tx1"/>
                </a:solidFill>
              </a:rPr>
              <a:t>ES</a:t>
            </a:r>
            <a:r>
              <a:rPr lang="zh-CN" altLang="en-US" sz="1400">
                <a:solidFill>
                  <a:schemeClr val="tx1"/>
                </a:solidFill>
              </a:rPr>
              <a:t>和</a:t>
            </a:r>
            <a:r>
              <a:rPr lang="en-US" altLang="zh-CN" sz="1400">
                <a:solidFill>
                  <a:schemeClr val="tx1"/>
                </a:solidFill>
              </a:rPr>
              <a:t>Minio</a:t>
            </a:r>
            <a:r>
              <a:rPr lang="zh-CN" altLang="en-US" sz="1400">
                <a:solidFill>
                  <a:schemeClr val="tx1"/>
                </a:solidFill>
              </a:rPr>
              <a:t>数据库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52" idx="3"/>
            <a:endCxn id="12" idx="3"/>
          </p:cNvCxnSpPr>
          <p:nvPr/>
        </p:nvCxnSpPr>
        <p:spPr>
          <a:xfrm flipH="1" flipV="1">
            <a:off x="6983095" y="4625975"/>
            <a:ext cx="180975" cy="641350"/>
          </a:xfrm>
          <a:prstGeom prst="bentConnector3">
            <a:avLst>
              <a:gd name="adj1" fmla="val -13157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28" idx="3"/>
            <a:endCxn id="34" idx="3"/>
          </p:cNvCxnSpPr>
          <p:nvPr/>
        </p:nvCxnSpPr>
        <p:spPr>
          <a:xfrm flipH="1">
            <a:off x="6909435" y="3883025"/>
            <a:ext cx="254635" cy="2034540"/>
          </a:xfrm>
          <a:prstGeom prst="bentConnector3">
            <a:avLst>
              <a:gd name="adj1" fmla="val -111471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6922770" y="4934585"/>
            <a:ext cx="49022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sp>
        <p:nvSpPr>
          <p:cNvPr id="2" name="流程图: 或者 1"/>
          <p:cNvSpPr/>
          <p:nvPr/>
        </p:nvSpPr>
        <p:spPr>
          <a:xfrm>
            <a:off x="5751195" y="3452495"/>
            <a:ext cx="144780" cy="10985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stCxn id="2" idx="4"/>
            <a:endCxn id="28" idx="0"/>
          </p:cNvCxnSpPr>
          <p:nvPr/>
        </p:nvCxnSpPr>
        <p:spPr>
          <a:xfrm>
            <a:off x="5823585" y="3562350"/>
            <a:ext cx="5080" cy="136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10800000" flipH="1" flipV="1">
            <a:off x="4251325" y="2225040"/>
            <a:ext cx="432435" cy="2400935"/>
          </a:xfrm>
          <a:prstGeom prst="bentConnector3">
            <a:avLst>
              <a:gd name="adj1" fmla="val -36211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47565" y="546100"/>
            <a:ext cx="1654810" cy="401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8315" y="30353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问题重写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4984750" y="591185"/>
            <a:ext cx="110680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用户提问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4004945" y="1156335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215130" y="1225550"/>
            <a:ext cx="2745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调用大模型判断问题完整性</a:t>
            </a:r>
            <a:endParaRPr lang="zh-CN" altLang="en-US" sz="16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>
            <a:off x="5474970" y="947420"/>
            <a:ext cx="762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2"/>
            <a:endCxn id="14" idx="0"/>
          </p:cNvCxnSpPr>
          <p:nvPr/>
        </p:nvCxnSpPr>
        <p:spPr>
          <a:xfrm>
            <a:off x="5482590" y="1679575"/>
            <a:ext cx="3810" cy="204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决策 13"/>
          <p:cNvSpPr/>
          <p:nvPr/>
        </p:nvSpPr>
        <p:spPr>
          <a:xfrm>
            <a:off x="4315460" y="1884045"/>
            <a:ext cx="2341880" cy="702310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sz="1600">
                <a:solidFill>
                  <a:schemeClr val="tx1"/>
                </a:solidFill>
                <a:sym typeface="+mn-ea"/>
              </a:rPr>
              <a:t>用户问题是否完整？</a:t>
            </a:r>
            <a:endParaRPr 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05580" y="2999105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根据历史对话记录和当前问题补全用户问题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1" name="直接箭头连接符 20"/>
          <p:cNvCxnSpPr>
            <a:stCxn id="14" idx="2"/>
            <a:endCxn id="18" idx="0"/>
          </p:cNvCxnSpPr>
          <p:nvPr/>
        </p:nvCxnSpPr>
        <p:spPr>
          <a:xfrm flipH="1">
            <a:off x="5483225" y="2586355"/>
            <a:ext cx="3175" cy="4127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113020" y="2632710"/>
            <a:ext cx="4229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26" name="矩形 25"/>
          <p:cNvSpPr/>
          <p:nvPr/>
        </p:nvSpPr>
        <p:spPr>
          <a:xfrm>
            <a:off x="4004310" y="3688080"/>
            <a:ext cx="2973070" cy="5391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关键槽位信息映射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5483225" y="3522345"/>
            <a:ext cx="7620" cy="165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6" idx="2"/>
            <a:endCxn id="28" idx="0"/>
          </p:cNvCxnSpPr>
          <p:nvPr/>
        </p:nvCxnSpPr>
        <p:spPr>
          <a:xfrm>
            <a:off x="5490845" y="4227195"/>
            <a:ext cx="635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14" idx="3"/>
            <a:endCxn id="57" idx="3"/>
          </p:cNvCxnSpPr>
          <p:nvPr/>
        </p:nvCxnSpPr>
        <p:spPr>
          <a:xfrm flipH="1">
            <a:off x="6532880" y="2235200"/>
            <a:ext cx="124460" cy="3407410"/>
          </a:xfrm>
          <a:prstGeom prst="bentConnector3">
            <a:avLst>
              <a:gd name="adj1" fmla="val -50051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6497955" y="1884045"/>
            <a:ext cx="558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  <p:cxnSp>
        <p:nvCxnSpPr>
          <p:cNvPr id="42" name="肘形连接符 41"/>
          <p:cNvCxnSpPr>
            <a:stCxn id="2" idx="1"/>
            <a:endCxn id="7" idx="1"/>
          </p:cNvCxnSpPr>
          <p:nvPr/>
        </p:nvCxnSpPr>
        <p:spPr>
          <a:xfrm rot="10800000">
            <a:off x="4004945" y="1417955"/>
            <a:ext cx="100330" cy="3366135"/>
          </a:xfrm>
          <a:prstGeom prst="bentConnector3">
            <a:avLst>
              <a:gd name="adj1" fmla="val 337342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431030" y="5479415"/>
            <a:ext cx="2101850" cy="3263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完整用户问题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65" name="直接箭头连接符 64"/>
          <p:cNvCxnSpPr>
            <a:stCxn id="2" idx="2"/>
            <a:endCxn id="57" idx="0"/>
          </p:cNvCxnSpPr>
          <p:nvPr/>
        </p:nvCxnSpPr>
        <p:spPr>
          <a:xfrm>
            <a:off x="5481320" y="5131435"/>
            <a:ext cx="635" cy="347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流程图: 决策 1"/>
          <p:cNvSpPr/>
          <p:nvPr/>
        </p:nvSpPr>
        <p:spPr>
          <a:xfrm>
            <a:off x="4105275" y="4436110"/>
            <a:ext cx="2752090" cy="69532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满足以基本槽位信息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28415" y="4477385"/>
            <a:ext cx="3867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否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4984750" y="5131435"/>
            <a:ext cx="4768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是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74235" y="979805"/>
            <a:ext cx="1654810" cy="3384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>
                <a:sym typeface="+mn-ea"/>
              </a:rPr>
              <a:t>双检索通道</a:t>
            </a:r>
            <a:endParaRPr lang="zh-CN" altLang="en-US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4130" y="38608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双通道检索</a:t>
            </a:r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4004945" y="1552575"/>
            <a:ext cx="2983230" cy="3219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用户问题进行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HanLP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分词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 flipH="1">
            <a:off x="5496560" y="1318260"/>
            <a:ext cx="5080" cy="2343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342130" y="3462020"/>
            <a:ext cx="2434590" cy="3670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重排序模型再次计算得分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43400" y="4009390"/>
            <a:ext cx="2433955" cy="3409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检索结果进行父子融合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5559425" y="3829050"/>
            <a:ext cx="1270" cy="1803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6" idx="2"/>
            <a:endCxn id="57" idx="0"/>
          </p:cNvCxnSpPr>
          <p:nvPr/>
        </p:nvCxnSpPr>
        <p:spPr>
          <a:xfrm flipH="1">
            <a:off x="5556250" y="4350385"/>
            <a:ext cx="4445" cy="196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151630" y="4546600"/>
            <a:ext cx="2809240" cy="4279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计算语义摘要下所有细节相似度的均分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83940" y="2216150"/>
            <a:ext cx="1701800" cy="3498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语义摘要检索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08015" y="2219325"/>
            <a:ext cx="1764665" cy="3333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细节知识检索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5" name="肘形连接符 14"/>
          <p:cNvCxnSpPr>
            <a:stCxn id="7" idx="2"/>
            <a:endCxn id="12" idx="0"/>
          </p:cNvCxnSpPr>
          <p:nvPr/>
        </p:nvCxnSpPr>
        <p:spPr>
          <a:xfrm rot="5400000" flipV="1">
            <a:off x="5871210" y="1499870"/>
            <a:ext cx="344805" cy="1094105"/>
          </a:xfrm>
          <a:prstGeom prst="bentConnector3">
            <a:avLst>
              <a:gd name="adj1" fmla="val 50092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8" idx="0"/>
          </p:cNvCxnSpPr>
          <p:nvPr/>
        </p:nvCxnSpPr>
        <p:spPr>
          <a:xfrm rot="10800000" flipV="1">
            <a:off x="4434205" y="2047240"/>
            <a:ext cx="1067435" cy="16891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458970" y="2905760"/>
            <a:ext cx="2198370" cy="3581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向量检索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关键词匹配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0" name="肘形连接符 19"/>
          <p:cNvCxnSpPr>
            <a:stCxn id="8" idx="2"/>
            <a:endCxn id="19" idx="0"/>
          </p:cNvCxnSpPr>
          <p:nvPr/>
        </p:nvCxnSpPr>
        <p:spPr>
          <a:xfrm rot="5400000" flipV="1">
            <a:off x="4826635" y="2174240"/>
            <a:ext cx="339725" cy="1123315"/>
          </a:xfrm>
          <a:prstGeom prst="bentConnector3">
            <a:avLst>
              <a:gd name="adj1" fmla="val 50093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2" idx="2"/>
            <a:endCxn id="19" idx="0"/>
          </p:cNvCxnSpPr>
          <p:nvPr/>
        </p:nvCxnSpPr>
        <p:spPr>
          <a:xfrm rot="5400000">
            <a:off x="5897880" y="2212975"/>
            <a:ext cx="353060" cy="1032510"/>
          </a:xfrm>
          <a:prstGeom prst="bentConnector3">
            <a:avLst>
              <a:gd name="adj1" fmla="val 52517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9" idx="2"/>
            <a:endCxn id="18" idx="0"/>
          </p:cNvCxnSpPr>
          <p:nvPr/>
        </p:nvCxnSpPr>
        <p:spPr>
          <a:xfrm>
            <a:off x="5558155" y="3263900"/>
            <a:ext cx="1270" cy="198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112260" y="5148580"/>
            <a:ext cx="2882265" cy="3321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筛选得分低于指定阈值的文档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>
            <a:stCxn id="57" idx="2"/>
            <a:endCxn id="28" idx="0"/>
          </p:cNvCxnSpPr>
          <p:nvPr/>
        </p:nvCxnSpPr>
        <p:spPr>
          <a:xfrm flipH="1">
            <a:off x="5553710" y="4974590"/>
            <a:ext cx="2540" cy="1739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56455" y="741680"/>
            <a:ext cx="1654810" cy="37465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>
                <a:sym typeface="+mn-ea"/>
              </a:rPr>
              <a:t>父子检索模块</a:t>
            </a:r>
            <a:endParaRPr lang="zh-CN" altLang="en-US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1395" y="386080"/>
            <a:ext cx="2057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父子匹配融合</a:t>
            </a:r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4004945" y="1318260"/>
            <a:ext cx="2955290" cy="4044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>
                <a:solidFill>
                  <a:schemeClr val="tx1"/>
                </a:solidFill>
                <a:sym typeface="+mn-ea"/>
              </a:rPr>
              <a:t>双检索返回结果查询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列表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 flipH="1">
            <a:off x="5482590" y="1116330"/>
            <a:ext cx="1270" cy="201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006215" y="3368675"/>
            <a:ext cx="2954020" cy="3314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语义摘要作为根节点下的内容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006215" y="3876040"/>
            <a:ext cx="2953385" cy="4864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细粒度文档作为语义摘要的叶子节点内容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5483225" y="3700145"/>
            <a:ext cx="0" cy="1758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6" idx="2"/>
            <a:endCxn id="57" idx="0"/>
          </p:cNvCxnSpPr>
          <p:nvPr/>
        </p:nvCxnSpPr>
        <p:spPr>
          <a:xfrm>
            <a:off x="5483225" y="4362450"/>
            <a:ext cx="5080" cy="2051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004945" y="1893570"/>
            <a:ext cx="2955925" cy="5168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相同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的语义摘要和细节知识块归类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005580" y="2593340"/>
            <a:ext cx="2955290" cy="5175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同一个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ID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文档，文档的标题名称作为根节点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5" name="直接箭头连接符 24"/>
          <p:cNvCxnSpPr>
            <a:stCxn id="19" idx="2"/>
            <a:endCxn id="18" idx="0"/>
          </p:cNvCxnSpPr>
          <p:nvPr/>
        </p:nvCxnSpPr>
        <p:spPr>
          <a:xfrm>
            <a:off x="5483225" y="3110865"/>
            <a:ext cx="0" cy="2578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2" idx="2"/>
            <a:endCxn id="19" idx="0"/>
          </p:cNvCxnSpPr>
          <p:nvPr/>
        </p:nvCxnSpPr>
        <p:spPr>
          <a:xfrm>
            <a:off x="5483225" y="2410460"/>
            <a:ext cx="0" cy="18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7" idx="2"/>
            <a:endCxn id="12" idx="0"/>
          </p:cNvCxnSpPr>
          <p:nvPr/>
        </p:nvCxnSpPr>
        <p:spPr>
          <a:xfrm>
            <a:off x="5482590" y="1722755"/>
            <a:ext cx="635" cy="1708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907155" y="4568190"/>
            <a:ext cx="3163570" cy="3314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组织为层次结构的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JSON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文档信息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656455" y="741680"/>
            <a:ext cx="1654810" cy="37465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>
                <a:sym typeface="+mn-ea"/>
              </a:rPr>
              <a:t>提示词模块</a:t>
            </a:r>
            <a:endParaRPr lang="zh-CN" altLang="en-US" sz="16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1395" y="386080"/>
            <a:ext cx="2057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提示词模块</a:t>
            </a:r>
            <a:endParaRPr lang="zh-CN" altLang="en-US" sz="24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 flipH="1">
            <a:off x="5482590" y="1116330"/>
            <a:ext cx="1270" cy="220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843655" y="2265680"/>
            <a:ext cx="3291840" cy="3511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根据检索返回的文档结构进行回复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136390" y="2830830"/>
            <a:ext cx="2705100" cy="3130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回答结束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>
            <a:stCxn id="26" idx="2"/>
            <a:endCxn id="6" idx="0"/>
          </p:cNvCxnSpPr>
          <p:nvPr/>
        </p:nvCxnSpPr>
        <p:spPr>
          <a:xfrm flipH="1">
            <a:off x="5486400" y="3143885"/>
            <a:ext cx="2540" cy="2127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" idx="2"/>
            <a:endCxn id="18" idx="0"/>
          </p:cNvCxnSpPr>
          <p:nvPr/>
        </p:nvCxnSpPr>
        <p:spPr>
          <a:xfrm>
            <a:off x="5480685" y="1986915"/>
            <a:ext cx="8890" cy="2787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391660" y="3356610"/>
            <a:ext cx="2188845" cy="2813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用户反馈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流程图: 决策 1"/>
          <p:cNvSpPr/>
          <p:nvPr/>
        </p:nvSpPr>
        <p:spPr>
          <a:xfrm>
            <a:off x="4500245" y="1337310"/>
            <a:ext cx="1960245" cy="649605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检索到知识块？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8" name="肘形连接符 7"/>
          <p:cNvCxnSpPr>
            <a:stCxn id="2" idx="3"/>
            <a:endCxn id="14" idx="0"/>
          </p:cNvCxnSpPr>
          <p:nvPr/>
        </p:nvCxnSpPr>
        <p:spPr>
          <a:xfrm>
            <a:off x="6460490" y="1662430"/>
            <a:ext cx="2007870" cy="6032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163185" y="1979930"/>
            <a:ext cx="29400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是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0640" y="1393825"/>
            <a:ext cx="291465" cy="26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否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" name="直接箭头连接符 12"/>
          <p:cNvCxnSpPr>
            <a:stCxn id="18" idx="2"/>
            <a:endCxn id="26" idx="0"/>
          </p:cNvCxnSpPr>
          <p:nvPr/>
        </p:nvCxnSpPr>
        <p:spPr>
          <a:xfrm flipH="1">
            <a:off x="5488940" y="2616835"/>
            <a:ext cx="635" cy="2139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291705" y="2265680"/>
            <a:ext cx="2353310" cy="3517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返回检索不到相关信息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”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5" name="肘形连接符 14"/>
          <p:cNvCxnSpPr>
            <a:stCxn id="14" idx="2"/>
            <a:endCxn id="26" idx="3"/>
          </p:cNvCxnSpPr>
          <p:nvPr/>
        </p:nvCxnSpPr>
        <p:spPr>
          <a:xfrm rot="5400000">
            <a:off x="7469823" y="1989138"/>
            <a:ext cx="370205" cy="162687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391660" y="3807460"/>
            <a:ext cx="2188845" cy="2813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sym typeface="+mn-ea"/>
              </a:rPr>
              <a:t>管理员进一步处理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7" name="直接箭头连接符 16"/>
          <p:cNvCxnSpPr>
            <a:stCxn id="6" idx="2"/>
            <a:endCxn id="16" idx="0"/>
          </p:cNvCxnSpPr>
          <p:nvPr/>
        </p:nvCxnSpPr>
        <p:spPr>
          <a:xfrm>
            <a:off x="5486400" y="3637915"/>
            <a:ext cx="0" cy="1695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2282825" y="546100"/>
            <a:ext cx="1654810" cy="401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576820" y="303530"/>
            <a:ext cx="1764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引导式提问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2620010" y="591185"/>
            <a:ext cx="110680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用户提问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1640205" y="1156335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850390" y="1225550"/>
            <a:ext cx="2745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检索财务（指标）数据库</a:t>
            </a:r>
            <a:endParaRPr lang="zh-CN" altLang="en-US" sz="1600"/>
          </a:p>
        </p:txBody>
      </p:sp>
      <p:cxnSp>
        <p:nvCxnSpPr>
          <p:cNvPr id="11" name="直接箭头连接符 10"/>
          <p:cNvCxnSpPr>
            <a:stCxn id="4" idx="2"/>
            <a:endCxn id="7" idx="0"/>
          </p:cNvCxnSpPr>
          <p:nvPr/>
        </p:nvCxnSpPr>
        <p:spPr>
          <a:xfrm>
            <a:off x="3110230" y="947420"/>
            <a:ext cx="762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2"/>
            <a:endCxn id="14" idx="0"/>
          </p:cNvCxnSpPr>
          <p:nvPr/>
        </p:nvCxnSpPr>
        <p:spPr>
          <a:xfrm>
            <a:off x="3117850" y="1679575"/>
            <a:ext cx="4445" cy="259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流程图: 决策 13"/>
          <p:cNvSpPr/>
          <p:nvPr/>
        </p:nvSpPr>
        <p:spPr>
          <a:xfrm>
            <a:off x="1489710" y="1939290"/>
            <a:ext cx="3265170" cy="873125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063750" y="2205355"/>
            <a:ext cx="24371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检索工作表</a:t>
            </a:r>
            <a:r>
              <a:rPr lang="en-US" altLang="zh-CN" sz="1600"/>
              <a:t>sheet≥1?</a:t>
            </a:r>
            <a:endParaRPr lang="en-US" altLang="zh-CN" sz="1600"/>
          </a:p>
        </p:txBody>
      </p:sp>
      <p:grpSp>
        <p:nvGrpSpPr>
          <p:cNvPr id="19" name="组合 18"/>
          <p:cNvGrpSpPr/>
          <p:nvPr/>
        </p:nvGrpSpPr>
        <p:grpSpPr>
          <a:xfrm>
            <a:off x="923290" y="3185160"/>
            <a:ext cx="3679190" cy="1873250"/>
            <a:chOff x="1128" y="6435"/>
            <a:chExt cx="5794" cy="2950"/>
          </a:xfrm>
        </p:grpSpPr>
        <p:sp>
          <p:nvSpPr>
            <p:cNvPr id="17" name="文本框 16"/>
            <p:cNvSpPr txBox="1"/>
            <p:nvPr/>
          </p:nvSpPr>
          <p:spPr>
            <a:xfrm>
              <a:off x="1128" y="6557"/>
              <a:ext cx="570" cy="28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/>
                <a:t>澄清用户问题</a:t>
              </a:r>
              <a:endParaRPr lang="zh-CN" altLang="en-US" sz="14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2268" y="6435"/>
              <a:ext cx="4654" cy="8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1" name="直接箭头连接符 20"/>
          <p:cNvCxnSpPr>
            <a:stCxn id="14" idx="2"/>
            <a:endCxn id="18" idx="0"/>
          </p:cNvCxnSpPr>
          <p:nvPr/>
        </p:nvCxnSpPr>
        <p:spPr>
          <a:xfrm>
            <a:off x="3122295" y="2812415"/>
            <a:ext cx="2540" cy="3727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562860" y="2755265"/>
            <a:ext cx="552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No</a:t>
            </a:r>
            <a:endParaRPr lang="en-US" altLang="zh-CN" sz="1400"/>
          </a:p>
        </p:txBody>
      </p:sp>
      <p:sp>
        <p:nvSpPr>
          <p:cNvPr id="24" name="文本框 23"/>
          <p:cNvSpPr txBox="1"/>
          <p:nvPr/>
        </p:nvSpPr>
        <p:spPr>
          <a:xfrm>
            <a:off x="2562860" y="3262630"/>
            <a:ext cx="1729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提示模板</a:t>
            </a:r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25" name="文本框 24"/>
          <p:cNvSpPr txBox="1"/>
          <p:nvPr/>
        </p:nvSpPr>
        <p:spPr>
          <a:xfrm>
            <a:off x="1664335" y="3925570"/>
            <a:ext cx="2779395" cy="454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/>
              <a:t>补充信息：目标对象、具体时间、公司名称</a:t>
            </a:r>
            <a:endParaRPr lang="zh-CN" altLang="en-US" sz="1600"/>
          </a:p>
        </p:txBody>
      </p:sp>
      <p:sp>
        <p:nvSpPr>
          <p:cNvPr id="26" name="矩形 25"/>
          <p:cNvSpPr/>
          <p:nvPr/>
        </p:nvSpPr>
        <p:spPr>
          <a:xfrm>
            <a:off x="1639570" y="3957320"/>
            <a:ext cx="2973070" cy="5391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>
            <a:stCxn id="18" idx="2"/>
            <a:endCxn id="26" idx="0"/>
          </p:cNvCxnSpPr>
          <p:nvPr/>
        </p:nvCxnSpPr>
        <p:spPr>
          <a:xfrm>
            <a:off x="3124835" y="3708400"/>
            <a:ext cx="1270" cy="2489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654810" y="4705350"/>
            <a:ext cx="2955290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988820" y="4791075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根据完整查询重新检索</a:t>
            </a:r>
            <a:endParaRPr lang="zh-CN" altLang="en-US" sz="1600"/>
          </a:p>
        </p:txBody>
      </p:sp>
      <p:cxnSp>
        <p:nvCxnSpPr>
          <p:cNvPr id="31" name="直接箭头连接符 30"/>
          <p:cNvCxnSpPr>
            <a:stCxn id="26" idx="2"/>
            <a:endCxn id="28" idx="0"/>
          </p:cNvCxnSpPr>
          <p:nvPr/>
        </p:nvCxnSpPr>
        <p:spPr>
          <a:xfrm>
            <a:off x="3126105" y="4496435"/>
            <a:ext cx="6350" cy="2089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94715" y="3055620"/>
            <a:ext cx="4031615" cy="22663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233160" y="2586355"/>
            <a:ext cx="4243705" cy="523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肘形连接符 34"/>
          <p:cNvCxnSpPr>
            <a:stCxn id="14" idx="3"/>
            <a:endCxn id="33" idx="0"/>
          </p:cNvCxnSpPr>
          <p:nvPr/>
        </p:nvCxnSpPr>
        <p:spPr>
          <a:xfrm>
            <a:off x="4754880" y="2376170"/>
            <a:ext cx="3600450" cy="21018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966335" y="2434590"/>
            <a:ext cx="558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Yes</a:t>
            </a:r>
            <a:endParaRPr lang="en-US" altLang="zh-CN" sz="1400"/>
          </a:p>
        </p:txBody>
      </p:sp>
      <p:sp>
        <p:nvSpPr>
          <p:cNvPr id="40" name="文本框 39"/>
          <p:cNvSpPr txBox="1"/>
          <p:nvPr/>
        </p:nvSpPr>
        <p:spPr>
          <a:xfrm>
            <a:off x="6195695" y="2659380"/>
            <a:ext cx="2763520" cy="387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计算工作表检索得分绝对偏差率</a:t>
            </a:r>
            <a:endParaRPr lang="zh-CN" altLang="en-US" sz="1400"/>
          </a:p>
          <a:p>
            <a:pPr algn="ctr"/>
            <a:endParaRPr lang="zh-CN" altLang="en-US" sz="1400"/>
          </a:p>
        </p:txBody>
      </p:sp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940165" y="2649855"/>
          <a:ext cx="153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536700" imgH="419100" progId="Equation.KSEE3">
                  <p:embed/>
                </p:oleObj>
              </mc:Choice>
              <mc:Fallback>
                <p:oleObj name="" r:id="rId1" imgW="1536700" imgH="419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40165" y="2649855"/>
                        <a:ext cx="153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肘形连接符 41"/>
          <p:cNvCxnSpPr>
            <a:stCxn id="28" idx="1"/>
            <a:endCxn id="7" idx="1"/>
          </p:cNvCxnSpPr>
          <p:nvPr/>
        </p:nvCxnSpPr>
        <p:spPr>
          <a:xfrm rot="10800000">
            <a:off x="1640205" y="1417955"/>
            <a:ext cx="14605" cy="3549015"/>
          </a:xfrm>
          <a:prstGeom prst="bentConnector3">
            <a:avLst>
              <a:gd name="adj1" fmla="val 173043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3" idx="2"/>
            <a:endCxn id="43" idx="0"/>
          </p:cNvCxnSpPr>
          <p:nvPr/>
        </p:nvCxnSpPr>
        <p:spPr>
          <a:xfrm flipH="1">
            <a:off x="8348980" y="3109595"/>
            <a:ext cx="6350" cy="3028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762115" y="3452495"/>
            <a:ext cx="31413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筛选得分高的工作表及得分</a:t>
            </a:r>
            <a:r>
              <a:rPr lang="en-US" altLang="zh-CN" sz="1400" i="1">
                <a:latin typeface="Times New Roman" panose="02020603050405020304" charset="0"/>
                <a:cs typeface="Times New Roman" panose="02020603050405020304" charset="0"/>
              </a:rPr>
              <a:t>score</a:t>
            </a:r>
            <a:endParaRPr lang="en-US" altLang="zh-CN" sz="14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7" name="直接箭头连接符 46"/>
          <p:cNvCxnSpPr>
            <a:stCxn id="48" idx="2"/>
            <a:endCxn id="52" idx="0"/>
          </p:cNvCxnSpPr>
          <p:nvPr/>
        </p:nvCxnSpPr>
        <p:spPr>
          <a:xfrm>
            <a:off x="8355330" y="3838575"/>
            <a:ext cx="5715" cy="2895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6761480" y="3412490"/>
            <a:ext cx="3187065" cy="4260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6991350" y="5791835"/>
            <a:ext cx="2719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调用微服务接口返回数据集内容</a:t>
            </a:r>
            <a:endParaRPr lang="zh-CN" altLang="en-US" sz="1400"/>
          </a:p>
        </p:txBody>
      </p:sp>
      <p:sp>
        <p:nvSpPr>
          <p:cNvPr id="51" name="文本框 50"/>
          <p:cNvSpPr txBox="1"/>
          <p:nvPr/>
        </p:nvSpPr>
        <p:spPr>
          <a:xfrm>
            <a:off x="7576820" y="4227195"/>
            <a:ext cx="17056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工作表个数＞</a:t>
            </a:r>
            <a:r>
              <a:rPr lang="en-US" altLang="zh-CN" sz="1600"/>
              <a:t>1</a:t>
            </a:r>
            <a:endParaRPr lang="en-US" altLang="zh-CN" sz="1600"/>
          </a:p>
        </p:txBody>
      </p:sp>
      <p:sp>
        <p:nvSpPr>
          <p:cNvPr id="52" name="流程图: 决策 51"/>
          <p:cNvSpPr/>
          <p:nvPr/>
        </p:nvSpPr>
        <p:spPr>
          <a:xfrm>
            <a:off x="7098665" y="4128135"/>
            <a:ext cx="2524760" cy="554990"/>
          </a:xfrm>
          <a:prstGeom prst="flowChartDecis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3" name="肘形连接符 52"/>
          <p:cNvCxnSpPr>
            <a:stCxn id="52" idx="3"/>
            <a:endCxn id="60" idx="3"/>
          </p:cNvCxnSpPr>
          <p:nvPr/>
        </p:nvCxnSpPr>
        <p:spPr>
          <a:xfrm flipH="1">
            <a:off x="9604375" y="4405630"/>
            <a:ext cx="19050" cy="1530985"/>
          </a:xfrm>
          <a:prstGeom prst="bentConnector3">
            <a:avLst>
              <a:gd name="adj1" fmla="val -12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9924415" y="4319905"/>
            <a:ext cx="552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No</a:t>
            </a:r>
            <a:endParaRPr lang="en-US" altLang="zh-CN" sz="1400"/>
          </a:p>
        </p:txBody>
      </p:sp>
      <p:sp>
        <p:nvSpPr>
          <p:cNvPr id="55" name="文本框 54"/>
          <p:cNvSpPr txBox="1"/>
          <p:nvPr/>
        </p:nvSpPr>
        <p:spPr>
          <a:xfrm>
            <a:off x="7777480" y="4626610"/>
            <a:ext cx="49022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Yes</a:t>
            </a:r>
            <a:endParaRPr lang="en-US" altLang="zh-CN" sz="1400"/>
          </a:p>
        </p:txBody>
      </p:sp>
      <p:cxnSp>
        <p:nvCxnSpPr>
          <p:cNvPr id="56" name="直接箭头连接符 55"/>
          <p:cNvCxnSpPr/>
          <p:nvPr/>
        </p:nvCxnSpPr>
        <p:spPr>
          <a:xfrm flipH="1">
            <a:off x="8336280" y="4683125"/>
            <a:ext cx="5715" cy="2203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7183755" y="4919345"/>
            <a:ext cx="2295525" cy="4997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7229475" y="4973320"/>
            <a:ext cx="2210435" cy="407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前端提示返回筛选后的工作表，要求用户确认具体查询工作表</a:t>
            </a:r>
            <a:endParaRPr lang="zh-CN" altLang="en-US" sz="1200"/>
          </a:p>
        </p:txBody>
      </p:sp>
      <p:sp>
        <p:nvSpPr>
          <p:cNvPr id="60" name="流程图: 可选过程 59"/>
          <p:cNvSpPr/>
          <p:nvPr/>
        </p:nvSpPr>
        <p:spPr>
          <a:xfrm>
            <a:off x="7079615" y="5734685"/>
            <a:ext cx="2524760" cy="40386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5525770" y="2002790"/>
            <a:ext cx="5199380" cy="195389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5801360" y="2446020"/>
            <a:ext cx="394335" cy="13436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筛选高分工作表</a:t>
            </a:r>
            <a:endParaRPr lang="zh-CN" altLang="en-US" sz="1400"/>
          </a:p>
        </p:txBody>
      </p:sp>
      <p:sp>
        <p:nvSpPr>
          <p:cNvPr id="63" name="矩形 62"/>
          <p:cNvSpPr/>
          <p:nvPr/>
        </p:nvSpPr>
        <p:spPr>
          <a:xfrm>
            <a:off x="5525770" y="4020820"/>
            <a:ext cx="5199380" cy="151447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796915" y="4128135"/>
            <a:ext cx="394335" cy="134366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/>
              <a:t>明确具体工作表</a:t>
            </a:r>
            <a:endParaRPr lang="zh-CN" altLang="en-US" sz="1400"/>
          </a:p>
        </p:txBody>
      </p:sp>
      <p:cxnSp>
        <p:nvCxnSpPr>
          <p:cNvPr id="65" name="直接箭头连接符 64"/>
          <p:cNvCxnSpPr>
            <a:stCxn id="57" idx="2"/>
            <a:endCxn id="60" idx="0"/>
          </p:cNvCxnSpPr>
          <p:nvPr/>
        </p:nvCxnSpPr>
        <p:spPr>
          <a:xfrm>
            <a:off x="8331835" y="5419090"/>
            <a:ext cx="10160" cy="3155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WPS 演示</Application>
  <PresentationFormat>宽屏</PresentationFormat>
  <Paragraphs>219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黑体</vt:lpstr>
      <vt:lpstr>Arial Black</vt:lpstr>
      <vt:lpstr>Arial Unicode MS</vt:lpstr>
      <vt:lpstr>Calibri</vt:lpstr>
      <vt:lpstr>Times New Roman</vt:lpstr>
      <vt:lpstr>WPS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卞庆朝</cp:lastModifiedBy>
  <cp:revision>188</cp:revision>
  <dcterms:created xsi:type="dcterms:W3CDTF">2019-06-19T02:08:00Z</dcterms:created>
  <dcterms:modified xsi:type="dcterms:W3CDTF">2025-12-26T09:27:00Z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F02AE79849E34355807E7740C3B7EA34_11</vt:lpwstr>
  </property>
</Properties>
</file>